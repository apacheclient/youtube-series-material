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rial"/>
              </a:defRPr>
            </a:pPr>
            <a:r>
              <a:t>LAPTOP HARDWARE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0EA5E9"/>
                </a:solidFill>
                <a:latin typeface="Arial"/>
              </a:defRPr>
            </a:pPr>
            <a:r>
              <a:t>CompTIA A+ (220-1201)  •  Core 1  •  Section 1.1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2971800"/>
            <a:ext cx="3291840" cy="1097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Arial"/>
              </a:defRPr>
            </a:pPr>
            <a:r>
              <a:t>Professional Teaching Materials  |  IT Certification Portfolio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Arial"/>
              </a:defRPr>
            </a:pPr>
            <a:r>
              <a:t>Created by Aaron R. Smith  •  YouTube Teachings Portfolio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LEARNING OBJECTIVES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005840"/>
            <a:ext cx="256032" cy="25603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7840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9601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Describe laptop battery technologies and safe replacement procedures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536192"/>
            <a:ext cx="256032" cy="25603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490472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Explain keyboard and keycap removal/installation best practices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066543"/>
            <a:ext cx="256032" cy="25603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03911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020824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Differentiate SODIMM vs. soldered RAM and identify upgrade paths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2596896"/>
            <a:ext cx="256032" cy="25603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56946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551176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Evaluate storage options (2.5" SATA vs. M.2 NVMe) and migration strategies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3127248"/>
            <a:ext cx="256032" cy="25603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09981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08152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Understand wireless card installation, antenna routing, and Wi-Fi standards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3657600"/>
            <a:ext cx="256032" cy="25603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63016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61188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Discuss biometric authentication methods and NFC use cases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" y="4187951"/>
            <a:ext cx="256032" cy="25603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160519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142231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Identify camera/microphone components and implement privacy best practices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INTRODUCTION TO LAPTOP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369A1"/>
                </a:solidFill>
                <a:latin typeface="Arial"/>
              </a:defRPr>
            </a:pPr>
            <a:r>
              <a:t>Portable Computing Platforms with Unique Constraints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481328"/>
            <a:ext cx="91440" cy="914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Laptops integrate powerful components into compact, battery-powered designs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011680"/>
            <a:ext cx="91440" cy="914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01952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Space, thermal, and power constraints require specialized parts (SODIMM, M.2, custom batteries)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542032"/>
            <a:ext cx="91440" cy="914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432304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Many components are modular but model-specific — always reference service manuals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072384"/>
            <a:ext cx="91440" cy="914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962656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Common user-serviceable upgrades: RAM, storage, battery, wireless card, keyboard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602736"/>
            <a:ext cx="91440" cy="914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493008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Modern ultrabooks increasingly use soldered RAM/CPU/GPU, limiting upgradability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4133088"/>
            <a:ext cx="91440" cy="914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02336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Proper ESD precautions and careful handling of ribbon cables are essential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BATTERY TECHNOLOGIES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4206240" cy="39319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54864" cy="39319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369A1"/>
                </a:solidFill>
                <a:latin typeface="Arial"/>
              </a:defRPr>
            </a:pPr>
            <a:r>
              <a:t>Battery Types &amp; Characteristics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rial"/>
              </a:defRPr>
            </a:pPr>
            <a:r>
              <a:t>•  Lithium-ion (Li-ion): High energy density, most common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rial"/>
              </a:defRPr>
            </a:pPr>
            <a:r>
              <a:t>•  Lithium Polymer (LiPo): Thinner, flexible form factors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888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rial"/>
              </a:defRPr>
            </a:pPr>
            <a:r>
              <a:t>•  No memory effect — charge at any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7180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rial"/>
              </a:defRPr>
            </a:pPr>
            <a:r>
              <a:t>•  Smart batteries report charge level &amp; health to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7472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rial"/>
              </a:defRPr>
            </a:pPr>
            <a:r>
              <a:t>•  Typical lifespan: 2–4 years or 300–500 cycles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914400"/>
            <a:ext cx="4206240" cy="39319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0" y="914400"/>
            <a:ext cx="54864" cy="39319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10515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369A1"/>
                </a:solidFill>
                <a:latin typeface="Arial"/>
              </a:defRPr>
            </a:pPr>
            <a:r>
              <a:t>Replacement Best Practices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4630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rial"/>
              </a:defRPr>
            </a:pPr>
            <a:r>
              <a:t>•  Identify modular (removable) vs. internal batteries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196596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rial"/>
              </a:defRPr>
            </a:pPr>
            <a:r>
              <a:t>•  Match exact voltage, capacity (Wh), and connector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46888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rial"/>
              </a:defRPr>
            </a:pPr>
            <a:r>
              <a:t>•  Prefer OEM or UL/CE certified compatible batteries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97180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rial"/>
              </a:defRPr>
            </a:pPr>
            <a:r>
              <a:t>•  Never use damaged or swollen batteries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47472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rial"/>
              </a:defRPr>
            </a:pPr>
            <a:r>
              <a:t>•  Proper disposal required — do not puncture or burn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KEYBOARD &amp; KEYCAP REPLACEMENT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8595360" cy="896112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54864" cy="89611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Arial"/>
              </a:defRPr>
            </a:pPr>
            <a:r>
              <a:t>Keyboard Assembly Removal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Usually accessed via bottom panel screws or palm rest. Connected by delicate ribbon cable(s) to motherboard. Handle with care to avoid tears.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901952"/>
            <a:ext cx="8595360" cy="896112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901952"/>
            <a:ext cx="54864" cy="89611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75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Arial"/>
              </a:defRPr>
            </a:pPr>
            <a:r>
              <a:t>Individual Keycap Replacement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Possible on most laptops using plastic spudgers. Avoid metal tools. Scissor-switch mechanisms are fragile — align clips properly when reinstalling.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889504"/>
            <a:ext cx="8595360" cy="896112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889504"/>
            <a:ext cx="54864" cy="89611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9626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Arial"/>
              </a:defRPr>
            </a:pPr>
            <a:r>
              <a:t>Troubleshooting Steps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7355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Test with external USB keyboard first. Reseat ribbon cable. Check for debris or liquid damage. Replace only if hardware fault confirmed.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3877056"/>
            <a:ext cx="8595360" cy="896112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877056"/>
            <a:ext cx="54864" cy="89611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9502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Arial"/>
              </a:defRPr>
            </a:pPr>
            <a:r>
              <a:t>Model-Specific Considerations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261104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Backlit keyboards, special function rows, and numeric keypads require exact replacement part. Check manufacturer parts lookup.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MEMORY (RAM) UPGRADES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1645920" cy="502920"/>
          </a:xfrm>
          <a:prstGeom prst="rect">
            <a:avLst/>
          </a:prstGeom>
          <a:solidFill>
            <a:srgbClr val="0F172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2412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Aspect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1920240" y="914400"/>
            <a:ext cx="3474720" cy="502920"/>
          </a:xfrm>
          <a:prstGeom prst="rect">
            <a:avLst/>
          </a:prstGeom>
          <a:solidFill>
            <a:srgbClr val="0F172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1024128"/>
            <a:ext cx="32918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SODIMM (Upgradable)</a:t>
            </a:r>
          </a:p>
        </p:txBody>
      </p:sp>
      <p:sp>
        <p:nvSpPr>
          <p:cNvPr id="8" name="Rectangle 7"/>
          <p:cNvSpPr/>
          <p:nvPr/>
        </p:nvSpPr>
        <p:spPr>
          <a:xfrm>
            <a:off x="5394959" y="914400"/>
            <a:ext cx="3474720" cy="502920"/>
          </a:xfrm>
          <a:prstGeom prst="rect">
            <a:avLst/>
          </a:prstGeom>
          <a:solidFill>
            <a:srgbClr val="0F172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399" y="1024128"/>
            <a:ext cx="32918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Soldered RAM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17320"/>
            <a:ext cx="1645920" cy="5029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1527048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172A"/>
                </a:solidFill>
                <a:latin typeface="Arial"/>
              </a:defRPr>
            </a:pPr>
            <a:r>
              <a:t>Form Factor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20240" y="1417320"/>
            <a:ext cx="3474720" cy="5029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93392" y="1527048"/>
            <a:ext cx="3328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  <a:latin typeface="Arial"/>
              </a:defRPr>
            </a:pPr>
            <a:r>
              <a:t>Small Outline DIMM — compact, notched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94959" y="1417320"/>
            <a:ext cx="3474720" cy="5029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68112" y="1527048"/>
            <a:ext cx="3328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  <a:latin typeface="Arial"/>
              </a:defRPr>
            </a:pPr>
            <a:r>
              <a:t>Directly soldered to motherboard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920240"/>
            <a:ext cx="1645920" cy="5029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2029968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172A"/>
                </a:solidFill>
                <a:latin typeface="Arial"/>
              </a:defRPr>
            </a:pPr>
            <a:r>
              <a:t>Upgradability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20240" y="1920240"/>
            <a:ext cx="3474720" cy="5029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93392" y="2029968"/>
            <a:ext cx="3328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  <a:latin typeface="Arial"/>
              </a:defRPr>
            </a:pPr>
            <a:r>
              <a:t>User-replaceable in most models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94959" y="1920240"/>
            <a:ext cx="3474720" cy="5029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68112" y="2029968"/>
            <a:ext cx="3328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  <a:latin typeface="Arial"/>
              </a:defRPr>
            </a:pPr>
            <a:r>
              <a:t>Not possible — board replacement only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423160"/>
            <a:ext cx="1645920" cy="5029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" y="2532888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172A"/>
                </a:solidFill>
                <a:latin typeface="Arial"/>
              </a:defRPr>
            </a:pPr>
            <a:r>
              <a:t>Typical Laptops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20240" y="2423160"/>
            <a:ext cx="3474720" cy="5029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93392" y="2532888"/>
            <a:ext cx="3328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  <a:latin typeface="Arial"/>
              </a:defRPr>
            </a:pPr>
            <a:r>
              <a:t>15"+ , gaming, business workstations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94959" y="2423160"/>
            <a:ext cx="3474720" cy="5029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68112" y="2532888"/>
            <a:ext cx="3328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  <a:latin typeface="Arial"/>
              </a:defRPr>
            </a:pPr>
            <a:r>
              <a:t>Ultrabooks, thin laptops, 2-in-1s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2926080"/>
            <a:ext cx="1645920" cy="5029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" y="3035808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172A"/>
                </a:solidFill>
                <a:latin typeface="Arial"/>
              </a:defRPr>
            </a:pPr>
            <a:r>
              <a:t>Installation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20240" y="2926080"/>
            <a:ext cx="3474720" cy="5029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993392" y="3035808"/>
            <a:ext cx="3328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  <a:latin typeface="Arial"/>
              </a:defRPr>
            </a:pPr>
            <a:r>
              <a:t>Bottom panel access, angle + clip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94959" y="2926080"/>
            <a:ext cx="3474720" cy="5029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68112" y="3035808"/>
            <a:ext cx="3328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  <a:latin typeface="Arial"/>
              </a:defRPr>
            </a:pPr>
            <a:r>
              <a:t>Factory only, permanent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429000"/>
            <a:ext cx="1645920" cy="5029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" y="3538728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172A"/>
                </a:solidFill>
                <a:latin typeface="Arial"/>
              </a:defRPr>
            </a:pPr>
            <a:r>
              <a:t>Max Capacity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20240" y="3429000"/>
            <a:ext cx="3474720" cy="5029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993392" y="3538728"/>
            <a:ext cx="3328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  <a:latin typeface="Arial"/>
              </a:defRPr>
            </a:pPr>
            <a:r>
              <a:t>Limited by slots + chipset support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94959" y="3429000"/>
            <a:ext cx="3474720" cy="5029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68112" y="3538728"/>
            <a:ext cx="3328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  <a:latin typeface="Arial"/>
              </a:defRPr>
            </a:pPr>
            <a:r>
              <a:t>Fixed at purchase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STORAGE UPGRADES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8595360" cy="896112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54864" cy="89611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Arial"/>
              </a:defRPr>
            </a:pPr>
            <a:r>
              <a:t>2.5" SATA Drives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Legacy form factor for HDDs and SSDs. Still found in older or budget laptops. Straightforward swap but limited by SATA speeds and physical thickness.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901952"/>
            <a:ext cx="8595360" cy="896112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901952"/>
            <a:ext cx="54864" cy="89611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75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Arial"/>
              </a:defRPr>
            </a:pPr>
            <a:r>
              <a:t>M.2 SSDs (NVMe Preferred)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Modern standard. Compact (2242/2260/2280), dramatically faster (especially NVMe PCIe), lower power draw, and single-screw installation in most chassis.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889504"/>
            <a:ext cx="8595360" cy="896112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889504"/>
            <a:ext cx="54864" cy="89611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9626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Arial"/>
              </a:defRPr>
            </a:pPr>
            <a:r>
              <a:t>Performance &amp; Reliability Gains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7355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SSD upgrades deliver the largest real-world speed improvement for most users. No moving parts means better durability, quieter operation, and lower heat.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3877056"/>
            <a:ext cx="8595360" cy="896112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877056"/>
            <a:ext cx="54864" cy="89611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9502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Arial"/>
              </a:defRPr>
            </a:pPr>
            <a:r>
              <a:t>Data Migration 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261104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Clone existing drive with tools like Macrium Reflect or manufacturer software, or perform clean Windows install. Always maintain current backups before starting.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WIRELESS CONNECTIVITY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8595360" cy="896112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54864" cy="89611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Arial"/>
              </a:defRPr>
            </a:pPr>
            <a:r>
              <a:t>Wireless Card Form Factors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M.2 Key E (most common modern) or legacy mini-PCIe. Many cards combine Wi-Fi 6/6E/7 + Bluetooth 5.x on a single module.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901952"/>
            <a:ext cx="8595360" cy="896112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901952"/>
            <a:ext cx="54864" cy="89611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75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Arial"/>
              </a:defRPr>
            </a:pPr>
            <a:r>
              <a:t>Antenna Routing &amp; MIMO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2–3 thin antenna cables route from the card through the display hinge to antennas embedded around the screen bezel. Proper connection is critical for signal strength.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889504"/>
            <a:ext cx="8595360" cy="896112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889504"/>
            <a:ext cx="54864" cy="89611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9626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Arial"/>
              </a:defRPr>
            </a:pPr>
            <a:r>
              <a:t>Upgrade Considerations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7355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Verify BIOS whitelist (some business laptops restrict cards). Match desired Wi-Fi standard. Update drivers and firmware after installation for best performance and security.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3877056"/>
            <a:ext cx="8595360" cy="896112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877056"/>
            <a:ext cx="54864" cy="89611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9502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Arial"/>
              </a:defRPr>
            </a:pPr>
            <a:r>
              <a:t>Common Troubleshooting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261104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Poor range or drops often caused by loose antenna connectors or outdated drivers rather than card failure. Check connections before replacing hardware.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BIOMETRICS &amp; NEAR-FIELD COMMUNICATION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4206240" cy="39319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54864" cy="39319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369A1"/>
                </a:solidFill>
                <a:latin typeface="Arial"/>
              </a:defRPr>
            </a:pPr>
            <a:r>
              <a:t>Biometric Authentication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•  Fingerprint readers integrated into power button or touchpad area on many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93392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•  IR cameras enable Windows Hello facial recognition with depth sensing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23744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•  Hardware-backed authentication improves security over passwords alone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54096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•  Common in enterprise deployments for fast, secure login workflows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84448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•  Some models combine fingerprint + facial recognition options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914400"/>
            <a:ext cx="4206240" cy="39319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0" y="914400"/>
            <a:ext cx="54864" cy="39319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10515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369A1"/>
                </a:solidFill>
                <a:latin typeface="Arial"/>
              </a:defRPr>
            </a:pPr>
            <a:r>
              <a:t>Near-Field Communication (NFC)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4630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•  Short-range wireless technology (typically &lt; 4 cm / 1.5 in)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1993392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•  Widely used in enterprise and healthcare for tap-to-authenticate badges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523744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•  Enables quick secure access without typing credentials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054096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•  Can be used for device pairing or data exchange in supported workflows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584448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•  Hardware module usually located near palm rest or display bezel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CAMERAS &amp; MICROPHONES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8595360" cy="896112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54864" cy="89611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Arial"/>
              </a:defRPr>
            </a:pPr>
            <a:r>
              <a:t>Integrated Webcams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HD or FHD cameras are standard. Higher-end models include IR for Windows Hello or physical privacy shutters. Video quality varies significantly by laptop tier.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901952"/>
            <a:ext cx="8595360" cy="896112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901952"/>
            <a:ext cx="54864" cy="89611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75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Arial"/>
              </a:defRPr>
            </a:pPr>
            <a:r>
              <a:t>Microphone Arrays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Multiple digital microphones enable noise cancellation, beamforming, and far-field voice pickup. Critical for clear video conferencing and voice commands.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889504"/>
            <a:ext cx="8595360" cy="896112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889504"/>
            <a:ext cx="54864" cy="89611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9626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Arial"/>
              </a:defRPr>
            </a:pPr>
            <a:r>
              <a:t>External Upgrade Path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7355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For professional streaming, meetings, or content creation, external USB webcams and headsets typically deliver superior quality and flexibility.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3877056"/>
            <a:ext cx="8595360" cy="896112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877056"/>
            <a:ext cx="54864" cy="89611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9502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Arial"/>
              </a:defRPr>
            </a:pPr>
            <a:r>
              <a:t>Privacy &amp; 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261104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Use physical camera covers or shutters when camera is not needed. Disable device in Windows Device Manager or BIOS. Monitor app permissions for camera/mic access.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987552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rial"/>
              </a:defRPr>
            </a:pPr>
            <a:r>
              <a:t>Laptop hardware is highly model-specific — always download and follow the official service manual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463040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89888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rial"/>
              </a:defRPr>
            </a:pPr>
            <a:r>
              <a:t>Practice strict ESD safety and handle ribbon cables with extreme care during any disassembly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1938528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65376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rial"/>
              </a:defRPr>
            </a:pPr>
            <a:r>
              <a:t>Document every step with clear photos — this saves time if reassembly becomes confusing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414016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40864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rial"/>
              </a:defRPr>
            </a:pPr>
            <a:r>
              <a:t>SSD upgrades provide the single largest performance improvement for the majority of users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2889504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816352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rial"/>
              </a:defRPr>
            </a:pPr>
            <a:r>
              <a:t>RAM and wireless card upgrades are straightforward on most business and gaming laptops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364992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291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rial"/>
              </a:defRPr>
            </a:pPr>
            <a:r>
              <a:t>Soldered components in thin ultrabooks significantly limit future upgrade options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3840480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67328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rial"/>
              </a:defRPr>
            </a:pPr>
            <a:r>
              <a:t>Always test thoroughly after changes and update chipset, storage, and wireless drivers/firmware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4315968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242816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rial"/>
              </a:defRPr>
            </a:pPr>
            <a:r>
              <a:t>For CompTIA A+ success: Master component identification, common issues, and standard upgrade procedures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RESOURCES &amp;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8595360" cy="658368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54864" cy="65836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Arial"/>
              </a:defRPr>
            </a:pPr>
            <a:r>
              <a:t>Professor Messer CompTIA A+ Video Series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618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Free, high-quality video coverage of every objective. Ideal companion for visual learning and exam prep.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664207"/>
            <a:ext cx="8595360" cy="658368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664207"/>
            <a:ext cx="54864" cy="65836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Arial"/>
              </a:defRPr>
            </a:pPr>
            <a:r>
              <a:t>Official CompTIA A+ Exam Objectives (PDF)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11679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Download the current objectives document directly from CompTIA to align study with tested topics.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414015"/>
            <a:ext cx="8595360" cy="658368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414015"/>
            <a:ext cx="54864" cy="65836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48716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Arial"/>
              </a:defRPr>
            </a:pPr>
            <a:r>
              <a:t>Manufacturer Service &amp; Maintenance Guides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761487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Dell, HP, Lenovo, ASUS, etc. publish detailed manuals with exploded views and part numbers for your exact model.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3163824"/>
            <a:ext cx="8595360" cy="658368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163824"/>
            <a:ext cx="54864" cy="65836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236976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Arial"/>
              </a:defRPr>
            </a:pPr>
            <a:r>
              <a:t>iFixit Repair Guides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51129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Community-driven step-by-step guides with photos. Great for learning disassembly techniques safely.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3913631"/>
            <a:ext cx="8595360" cy="658368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913631"/>
            <a:ext cx="54864" cy="65836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986783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Arial"/>
              </a:defRPr>
            </a:pPr>
            <a:r>
              <a:t>Hands-On Practice Recommendations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261103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Work with retired laptops, virtual machines, and simulation tools. Practice identifying parts and performing upgrades.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Arial"/>
              </a:defRPr>
            </a:pPr>
            <a:r>
              <a:t>Questions or feedback? Drop them in the YouTube comments or community discussions.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743200"/>
            <a:ext cx="2743200" cy="1097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Arial"/>
              </a:defRPr>
            </a:pPr>
            <a:r>
              <a:t>This slide deck is part of professional portfolio materials</a:t>
            </a:r>
            <a:br/>
            <a:r>
              <a:t>for IT certification teaching content.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Arial"/>
              </a:defRPr>
            </a:pPr>
            <a:r>
              <a:t>Aaron R. Smith  •  CompTIA A+ • Network+ • Security+  •  WGU B.S. Information Technology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