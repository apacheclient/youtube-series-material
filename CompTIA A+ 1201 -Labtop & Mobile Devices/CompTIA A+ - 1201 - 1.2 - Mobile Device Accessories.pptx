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1">
                <a:solidFill>
                  <a:srgbClr val="FFFFFF"/>
                </a:solidFill>
                <a:latin typeface="Arial"/>
              </a:defRPr>
            </a:pPr>
            <a:r>
              <a:t>MOBILE DEVICE ACCESSORIES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945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0">
                <a:solidFill>
                  <a:srgbClr val="0EA5E9"/>
                </a:solidFill>
                <a:latin typeface="Arial"/>
              </a:defRPr>
            </a:pPr>
            <a:r>
              <a:t>CompTIA A+ (220-1201)  •  Core 1  •  Section 1.2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0" y="2788920"/>
            <a:ext cx="3291840" cy="1097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30175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  <a:latin typeface="Arial"/>
              </a:defRPr>
            </a:pPr>
            <a:r>
              <a:t>Professional Teaching Materials  |  IT Certification Portfolio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3434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4748B"/>
                </a:solidFill>
                <a:latin typeface="Arial"/>
              </a:defRPr>
            </a:pPr>
            <a:r>
              <a:t>Created by Aaron R. Smith  •  YouTube Teachings Portfolio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Arial"/>
              </a:defRPr>
            </a:pPr>
            <a:r>
              <a:t>LEARNING OBJECTIVES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005840"/>
            <a:ext cx="256032" cy="256032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78408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960120"/>
            <a:ext cx="77724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Arial"/>
              </a:defRPr>
            </a:pPr>
            <a:r>
              <a:t>Identify common mobile device accessories and their primary functions</a:t>
            </a:r>
          </a:p>
        </p:txBody>
      </p:sp>
      <p:sp>
        <p:nvSpPr>
          <p:cNvPr id="7" name="Oval 6"/>
          <p:cNvSpPr/>
          <p:nvPr/>
        </p:nvSpPr>
        <p:spPr>
          <a:xfrm>
            <a:off x="457200" y="1627632"/>
            <a:ext cx="256032" cy="256032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600200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581912"/>
            <a:ext cx="77724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Arial"/>
              </a:defRPr>
            </a:pPr>
            <a:r>
              <a:t>Describe styluses and their features (Bluetooth, pressure sensitivity, compatibility)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2249424"/>
            <a:ext cx="256032" cy="256032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221992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203704"/>
            <a:ext cx="77724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Arial"/>
              </a:defRPr>
            </a:pPr>
            <a:r>
              <a:t>Differentiate between wired and wireless headsets and their connection methods</a:t>
            </a:r>
          </a:p>
        </p:txBody>
      </p:sp>
      <p:sp>
        <p:nvSpPr>
          <p:cNvPr id="13" name="Oval 12"/>
          <p:cNvSpPr/>
          <p:nvPr/>
        </p:nvSpPr>
        <p:spPr>
          <a:xfrm>
            <a:off x="457200" y="2871215"/>
            <a:ext cx="256032" cy="256032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2843784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2825496"/>
            <a:ext cx="77724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Arial"/>
              </a:defRPr>
            </a:pPr>
            <a:r>
              <a:t>Explain the use of external speakers and webcams for mobile setups</a:t>
            </a:r>
          </a:p>
        </p:txBody>
      </p:sp>
      <p:sp>
        <p:nvSpPr>
          <p:cNvPr id="16" name="Oval 15"/>
          <p:cNvSpPr/>
          <p:nvPr/>
        </p:nvSpPr>
        <p:spPr>
          <a:xfrm>
            <a:off x="457200" y="3493008"/>
            <a:ext cx="256032" cy="256032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3465576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3447288"/>
            <a:ext cx="77724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Arial"/>
              </a:defRPr>
            </a:pPr>
            <a:r>
              <a:t>Understand docking stations vs. port replicators and when to use each</a:t>
            </a:r>
          </a:p>
        </p:txBody>
      </p:sp>
      <p:sp>
        <p:nvSpPr>
          <p:cNvPr id="19" name="Oval 18"/>
          <p:cNvSpPr/>
          <p:nvPr/>
        </p:nvSpPr>
        <p:spPr>
          <a:xfrm>
            <a:off x="457200" y="4114800"/>
            <a:ext cx="256032" cy="256032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4087368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4069080"/>
            <a:ext cx="77724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Arial"/>
              </a:defRPr>
            </a:pPr>
            <a:r>
              <a:t>Describe trackpads and drawing pads for precise input and navigation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Arial"/>
              </a:defRPr>
            </a:pPr>
            <a:r>
              <a:t>INTRODUCTION TO MOBILE DEVICE ACCESSORIES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369A1"/>
                </a:solidFill>
                <a:latin typeface="Arial"/>
              </a:defRPr>
            </a:pPr>
            <a:r>
              <a:t>Accessories enhance the functionality, comfort, and productivity of mobile devices and laptops.</a:t>
            </a:r>
          </a:p>
        </p:txBody>
      </p:sp>
      <p:sp>
        <p:nvSpPr>
          <p:cNvPr id="5" name="Oval 4"/>
          <p:cNvSpPr/>
          <p:nvPr/>
        </p:nvSpPr>
        <p:spPr>
          <a:xfrm>
            <a:off x="457200" y="1527048"/>
            <a:ext cx="91440" cy="91440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417320"/>
            <a:ext cx="79552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Arial"/>
              </a:defRPr>
            </a:pPr>
            <a:r>
              <a:t>Mobile devices are highly portable but often benefit from additional peripherals for specific tasks</a:t>
            </a:r>
          </a:p>
        </p:txBody>
      </p:sp>
      <p:sp>
        <p:nvSpPr>
          <p:cNvPr id="7" name="Oval 6"/>
          <p:cNvSpPr/>
          <p:nvPr/>
        </p:nvSpPr>
        <p:spPr>
          <a:xfrm>
            <a:off x="457200" y="2057400"/>
            <a:ext cx="91440" cy="91440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947672"/>
            <a:ext cx="79552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Arial"/>
              </a:defRPr>
            </a:pPr>
            <a:r>
              <a:t>Common categories: Input devices (stylus, trackpad, drawing pad), Audio (headsets, speakers), Video (webcams), Connectivity (docks, replicators)</a:t>
            </a:r>
          </a:p>
        </p:txBody>
      </p:sp>
      <p:sp>
        <p:nvSpPr>
          <p:cNvPr id="9" name="Oval 8"/>
          <p:cNvSpPr/>
          <p:nvPr/>
        </p:nvSpPr>
        <p:spPr>
          <a:xfrm>
            <a:off x="457200" y="2587752"/>
            <a:ext cx="91440" cy="91440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478024"/>
            <a:ext cx="79552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Arial"/>
              </a:defRPr>
            </a:pPr>
            <a:r>
              <a:t>Many accessories connect via Bluetooth for wireless freedom or USB/Lightning for reliable wired performance</a:t>
            </a:r>
          </a:p>
        </p:txBody>
      </p:sp>
      <p:sp>
        <p:nvSpPr>
          <p:cNvPr id="11" name="Oval 10"/>
          <p:cNvSpPr/>
          <p:nvPr/>
        </p:nvSpPr>
        <p:spPr>
          <a:xfrm>
            <a:off x="457200" y="3118104"/>
            <a:ext cx="91440" cy="91440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3008376"/>
            <a:ext cx="79552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Arial"/>
              </a:defRPr>
            </a:pPr>
            <a:r>
              <a:t>Choosing the right accessory depends on use case: productivity, creative work, meetings, or entertainment</a:t>
            </a:r>
          </a:p>
        </p:txBody>
      </p:sp>
      <p:sp>
        <p:nvSpPr>
          <p:cNvPr id="13" name="Oval 12"/>
          <p:cNvSpPr/>
          <p:nvPr/>
        </p:nvSpPr>
        <p:spPr>
          <a:xfrm>
            <a:off x="457200" y="3648456"/>
            <a:ext cx="91440" cy="91440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3538728"/>
            <a:ext cx="79552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Arial"/>
              </a:defRPr>
            </a:pPr>
            <a:r>
              <a:t>CompTIA A+ emphasizes identifying accessories, their connection methods, and basic troubleshooting</a:t>
            </a:r>
          </a:p>
        </p:txBody>
      </p:sp>
      <p:sp>
        <p:nvSpPr>
          <p:cNvPr id="15" name="Oval 14"/>
          <p:cNvSpPr/>
          <p:nvPr/>
        </p:nvSpPr>
        <p:spPr>
          <a:xfrm>
            <a:off x="457200" y="4178808"/>
            <a:ext cx="91440" cy="91440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4069080"/>
            <a:ext cx="79552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Arial"/>
              </a:defRPr>
            </a:pPr>
            <a:r>
              <a:t>Accessories can significantly improve workflow when working away from a full desktop setup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Arial"/>
              </a:defRPr>
            </a:pPr>
            <a:r>
              <a:t>STYLUS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914400"/>
            <a:ext cx="8595360" cy="59436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914400"/>
            <a:ext cx="54864" cy="59436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969264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369A1"/>
                </a:solidFill>
                <a:latin typeface="Arial"/>
              </a:defRPr>
            </a:pPr>
            <a:r>
              <a:t>What is a Stylus?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0700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F172A"/>
                </a:solidFill>
                <a:latin typeface="Arial"/>
              </a:defRPr>
            </a:pPr>
            <a:r>
              <a:t>A pen-like input device used for precise drawing, writing, and navigation on touchscreens, especially on tablets and convertible laptops.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" y="1572768"/>
            <a:ext cx="8595360" cy="59436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1572768"/>
            <a:ext cx="54864" cy="59436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627632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369A1"/>
                </a:solidFill>
                <a:latin typeface="Arial"/>
              </a:defRPr>
            </a:pPr>
            <a:r>
              <a:t>Connection Types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865376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F172A"/>
                </a:solidFill>
                <a:latin typeface="Arial"/>
              </a:defRPr>
            </a:pPr>
            <a:r>
              <a:t>Passive (capacitive – no battery, works on most touchscreens) vs. Active/Bluetooth (requires pairing, supports pressure sensitivity and palm rejection).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4320" y="2231136"/>
            <a:ext cx="8595360" cy="59436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2231136"/>
            <a:ext cx="54864" cy="59436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2286000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369A1"/>
                </a:solidFill>
                <a:latin typeface="Arial"/>
              </a:defRPr>
            </a:pPr>
            <a:r>
              <a:t>Key Features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252374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F172A"/>
                </a:solidFill>
                <a:latin typeface="Arial"/>
              </a:defRPr>
            </a:pPr>
            <a:r>
              <a:t>Pressure sensitivity (levels of pressure for varying line thickness), tilt support, programmable buttons, low latency, and long battery life on active models.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74320" y="2889504"/>
            <a:ext cx="8595360" cy="59436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74320" y="2889504"/>
            <a:ext cx="54864" cy="59436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2944368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369A1"/>
                </a:solidFill>
                <a:latin typeface="Arial"/>
              </a:defRPr>
            </a:pPr>
            <a:r>
              <a:t>Popular Examples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318211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F172A"/>
                </a:solidFill>
                <a:latin typeface="Arial"/>
              </a:defRPr>
            </a:pPr>
            <a:r>
              <a:t>Apple Pencil (for iPad), Samsung S Pen, Microsoft Surface Pen, and generic Bluetooth styluses for Android/Windows devices.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74320" y="3547872"/>
            <a:ext cx="8595360" cy="59436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74320" y="3547872"/>
            <a:ext cx="54864" cy="59436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3602736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369A1"/>
                </a:solidFill>
                <a:latin typeface="Arial"/>
              </a:defRPr>
            </a:pPr>
            <a:r>
              <a:t>Use Cases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384048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F172A"/>
                </a:solidFill>
                <a:latin typeface="Arial"/>
              </a:defRPr>
            </a:pPr>
            <a:r>
              <a:t>Digital note-taking, graphic design, photo editing, annotation, and precise navigation on larger touchscreens.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74320" y="4206240"/>
            <a:ext cx="8595360" cy="59436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74320" y="4206240"/>
            <a:ext cx="54864" cy="59436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4261103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369A1"/>
                </a:solidFill>
                <a:latin typeface="Arial"/>
              </a:defRPr>
            </a:pPr>
            <a:r>
              <a:t>Troubleshooting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449884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F172A"/>
                </a:solidFill>
                <a:latin typeface="Arial"/>
              </a:defRPr>
            </a:pPr>
            <a:r>
              <a:t>Ensure Bluetooth is paired and charged. Check device compatibility. Clean screen and stylus tip. Update firmware/apps for best performance.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Arial"/>
              </a:defRPr>
            </a:pPr>
            <a:r>
              <a:t>HEADSETS (WIRED &amp; WIRELESS)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914400"/>
            <a:ext cx="8595360" cy="59436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914400"/>
            <a:ext cx="54864" cy="59436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969264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369A1"/>
                </a:solidFill>
                <a:latin typeface="Arial"/>
              </a:defRPr>
            </a:pPr>
            <a:r>
              <a:t>Wired Headsets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0700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F172A"/>
                </a:solidFill>
                <a:latin typeface="Arial"/>
              </a:defRPr>
            </a:pPr>
            <a:r>
              <a:t>Connect via USB, 3.5mm TRRS jack, or Lightning. Reliable, no battery needed, often include inline controls and microphones.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" y="1572768"/>
            <a:ext cx="8595360" cy="59436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1572768"/>
            <a:ext cx="54864" cy="59436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627632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369A1"/>
                </a:solidFill>
                <a:latin typeface="Arial"/>
              </a:defRPr>
            </a:pPr>
            <a:r>
              <a:t>Wireless Headsets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865376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F172A"/>
                </a:solidFill>
                <a:latin typeface="Arial"/>
              </a:defRPr>
            </a:pPr>
            <a:r>
              <a:t>Primarily Bluetooth. Offer freedom of movement. Modern versions support high-quality audio codecs (aptX, AAC, LDAC) and long battery life.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4320" y="2231136"/>
            <a:ext cx="8595360" cy="59436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2231136"/>
            <a:ext cx="54864" cy="59436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2286000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369A1"/>
                </a:solidFill>
                <a:latin typeface="Arial"/>
              </a:defRPr>
            </a:pPr>
            <a:r>
              <a:t>Key Features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252374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F172A"/>
                </a:solidFill>
                <a:latin typeface="Arial"/>
              </a:defRPr>
            </a:pPr>
            <a:r>
              <a:t>Noise cancellation (ANC or passive), microphone quality for calls/meetings, comfort for long wear, and multi-device pairing on premium models.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74320" y="2889504"/>
            <a:ext cx="8595360" cy="59436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74320" y="2889504"/>
            <a:ext cx="54864" cy="59436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2944368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369A1"/>
                </a:solidFill>
                <a:latin typeface="Arial"/>
              </a:defRPr>
            </a:pPr>
            <a:r>
              <a:t>Common Use Cases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318211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F172A"/>
                </a:solidFill>
                <a:latin typeface="Arial"/>
              </a:defRPr>
            </a:pPr>
            <a:r>
              <a:t>Hands-free calls, video conferencing, music/podcasts, gaming, and driving safety (with Bluetooth).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74320" y="3547872"/>
            <a:ext cx="8595360" cy="59436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74320" y="3547872"/>
            <a:ext cx="54864" cy="59436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3602736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369A1"/>
                </a:solidFill>
                <a:latin typeface="Arial"/>
              </a:defRPr>
            </a:pPr>
            <a:r>
              <a:t>Troubleshooting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384048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F172A"/>
                </a:solidFill>
                <a:latin typeface="Arial"/>
              </a:defRPr>
            </a:pPr>
            <a:r>
              <a:t>For wired: Check cable/port damage and compatibility. For wireless: Re-pair device, check battery, ensure Bluetooth version compatibility, reduce interference.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74320" y="4206240"/>
            <a:ext cx="8595360" cy="59436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74320" y="4206240"/>
            <a:ext cx="54864" cy="59436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4261103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369A1"/>
                </a:solidFill>
                <a:latin typeface="Arial"/>
              </a:defRPr>
            </a:pPr>
            <a:r>
              <a:t>Best Practices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449884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F172A"/>
                </a:solidFill>
                <a:latin typeface="Arial"/>
              </a:defRPr>
            </a:pPr>
            <a:r>
              <a:t>Choose based on primary use (calls vs. music). Look for good mic quality for professional video calls. Consider comfort and battery life for all-day use.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Arial"/>
              </a:defRPr>
            </a:pPr>
            <a:r>
              <a:t>SPEAKERS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914400"/>
            <a:ext cx="8595360" cy="59436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914400"/>
            <a:ext cx="54864" cy="59436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969264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369A1"/>
                </a:solidFill>
                <a:latin typeface="Arial"/>
              </a:defRPr>
            </a:pPr>
            <a:r>
              <a:t>Types of Speakers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0700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F172A"/>
                </a:solidFill>
                <a:latin typeface="Arial"/>
              </a:defRPr>
            </a:pPr>
            <a:r>
              <a:t>Portable Bluetooth speakers (most common for mobile), USB-powered desktop speakers, and larger wireless home audio systems.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" y="1572768"/>
            <a:ext cx="8595360" cy="59436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1572768"/>
            <a:ext cx="54864" cy="59436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627632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369A1"/>
                </a:solidFill>
                <a:latin typeface="Arial"/>
              </a:defRPr>
            </a:pPr>
            <a:r>
              <a:t>Connection Methods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865376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F172A"/>
                </a:solidFill>
                <a:latin typeface="Arial"/>
              </a:defRPr>
            </a:pPr>
            <a:r>
              <a:t>Bluetooth (wireless, convenient), USB (powered and data), 3.5mm aux cable (universal wired option).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4320" y="2231136"/>
            <a:ext cx="8595360" cy="59436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2231136"/>
            <a:ext cx="54864" cy="59436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2286000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369A1"/>
                </a:solidFill>
                <a:latin typeface="Arial"/>
              </a:defRPr>
            </a:pPr>
            <a:r>
              <a:t>Key Features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252374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F172A"/>
                </a:solidFill>
                <a:latin typeface="Arial"/>
              </a:defRPr>
            </a:pPr>
            <a:r>
              <a:t>Battery life (for portables), sound quality (bass, clarity, volume), waterproof/dustproof rating (IP rating for outdoor use), and multi-speaker pairing (stereo or party mode).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74320" y="2889504"/>
            <a:ext cx="8595360" cy="59436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74320" y="2889504"/>
            <a:ext cx="54864" cy="59436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2944368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369A1"/>
                </a:solidFill>
                <a:latin typeface="Arial"/>
              </a:defRPr>
            </a:pPr>
            <a:r>
              <a:t>Use Cases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318211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F172A"/>
                </a:solidFill>
                <a:latin typeface="Arial"/>
              </a:defRPr>
            </a:pPr>
            <a:r>
              <a:t>Music and podcasts on the go, conference calls with better audio, parties/outdoor events, and improving laptop audio quality.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74320" y="3547872"/>
            <a:ext cx="8595360" cy="59436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74320" y="3547872"/>
            <a:ext cx="54864" cy="59436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3602736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369A1"/>
                </a:solidFill>
                <a:latin typeface="Arial"/>
              </a:defRPr>
            </a:pPr>
            <a:r>
              <a:t>Troubleshooting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384048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F172A"/>
                </a:solidFill>
                <a:latin typeface="Arial"/>
              </a:defRPr>
            </a:pPr>
            <a:r>
              <a:t>Ensure speaker is charged and in pairing mode. Check Bluetooth connection. For USB speakers, verify drivers and port power. Test with different devices.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74320" y="4206240"/>
            <a:ext cx="8595360" cy="59436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74320" y="4206240"/>
            <a:ext cx="54864" cy="59436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4261103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369A1"/>
                </a:solidFill>
                <a:latin typeface="Arial"/>
              </a:defRPr>
            </a:pPr>
            <a:r>
              <a:t>Best Practices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449884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F172A"/>
                </a:solidFill>
                <a:latin typeface="Arial"/>
              </a:defRPr>
            </a:pPr>
            <a:r>
              <a:t>Match speaker size/power to your environment. Use waterproof models for outdoor/mobile use. Keep firmware updated for best performance and features.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Arial"/>
              </a:defRPr>
            </a:pPr>
            <a:r>
              <a:t>WEBCAMS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914400"/>
            <a:ext cx="8595360" cy="59436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914400"/>
            <a:ext cx="54864" cy="59436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969264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369A1"/>
                </a:solidFill>
                <a:latin typeface="Arial"/>
              </a:defRPr>
            </a:pPr>
            <a:r>
              <a:t>Why External Webcams?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0700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F172A"/>
                </a:solidFill>
                <a:latin typeface="Arial"/>
              </a:defRPr>
            </a:pPr>
            <a:r>
              <a:t>Built-in laptop/webcam quality is often poor. External USB webcams offer better resolution, low-light performance, autofocus, and features like background blur.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" y="1572768"/>
            <a:ext cx="8595360" cy="59436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1572768"/>
            <a:ext cx="54864" cy="59436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627632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369A1"/>
                </a:solidFill>
                <a:latin typeface="Arial"/>
              </a:defRPr>
            </a:pPr>
            <a:r>
              <a:t>Connection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865376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F172A"/>
                </a:solidFill>
                <a:latin typeface="Arial"/>
              </a:defRPr>
            </a:pPr>
            <a:r>
              <a:t>Almost always USB (USB-A or USB-C). Plug-and-play on most modern operating systems. Some support higher resolutions via USB 3.0+.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4320" y="2231136"/>
            <a:ext cx="8595360" cy="59436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2231136"/>
            <a:ext cx="54864" cy="59436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2286000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369A1"/>
                </a:solidFill>
                <a:latin typeface="Arial"/>
              </a:defRPr>
            </a:pPr>
            <a:r>
              <a:t>Key Features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252374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F172A"/>
                </a:solidFill>
                <a:latin typeface="Arial"/>
              </a:defRPr>
            </a:pPr>
            <a:r>
              <a:t>Resolution (1080p, 4K), frame rate, autofocus, low-light sensors, built-in microphone, privacy shutter, and wide-angle lens options.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74320" y="2889504"/>
            <a:ext cx="8595360" cy="59436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74320" y="2889504"/>
            <a:ext cx="54864" cy="59436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2944368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369A1"/>
                </a:solidFill>
                <a:latin typeface="Arial"/>
              </a:defRPr>
            </a:pPr>
            <a:r>
              <a:t>Use Cases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318211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F172A"/>
                </a:solidFill>
                <a:latin typeface="Arial"/>
              </a:defRPr>
            </a:pPr>
            <a:r>
              <a:t>Video conferencing (Zoom, Teams, Meet), content creation, streaming, online classes, and remote work.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74320" y="3547872"/>
            <a:ext cx="8595360" cy="59436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74320" y="3547872"/>
            <a:ext cx="54864" cy="59436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3602736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369A1"/>
                </a:solidFill>
                <a:latin typeface="Arial"/>
              </a:defRPr>
            </a:pPr>
            <a:r>
              <a:t>Troubleshooting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384048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F172A"/>
                </a:solidFill>
                <a:latin typeface="Arial"/>
              </a:defRPr>
            </a:pPr>
            <a:r>
              <a:t>Check USB connection and port. Update webcam drivers/firmware. Ensure camera is not being used by another app. Test in different software.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74320" y="4206240"/>
            <a:ext cx="8595360" cy="59436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74320" y="4206240"/>
            <a:ext cx="54864" cy="59436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4261103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369A1"/>
                </a:solidFill>
                <a:latin typeface="Arial"/>
              </a:defRPr>
            </a:pPr>
            <a:r>
              <a:t>Best Practices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449884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F172A"/>
                </a:solidFill>
                <a:latin typeface="Arial"/>
              </a:defRPr>
            </a:pPr>
            <a:r>
              <a:t>Choose 1080p or higher with good low-light performance. Position at eye level for natural eye contact. Use a privacy cover when not in use.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Arial"/>
              </a:defRPr>
            </a:pPr>
            <a:r>
              <a:t>DOCKING STATIONS &amp; PORT REPLICATORS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914400"/>
            <a:ext cx="8595360" cy="59436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914400"/>
            <a:ext cx="54864" cy="59436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969264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369A1"/>
                </a:solidFill>
                <a:latin typeface="Arial"/>
              </a:defRPr>
            </a:pPr>
            <a:r>
              <a:t>Docking Stations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0700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F172A"/>
                </a:solidFill>
                <a:latin typeface="Arial"/>
              </a:defRPr>
            </a:pPr>
            <a:r>
              <a:t>Full-featured hubs that connect a laptop to multiple peripherals with a single cable (often Thunderbolt/USB-C). Support power delivery, multiple monitors, Ethernet, USB ports, etc.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" y="1572768"/>
            <a:ext cx="8595360" cy="59436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1572768"/>
            <a:ext cx="54864" cy="59436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627632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369A1"/>
                </a:solidFill>
                <a:latin typeface="Arial"/>
              </a:defRPr>
            </a:pPr>
            <a:r>
              <a:t>Port Replicators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865376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F172A"/>
                </a:solidFill>
                <a:latin typeface="Arial"/>
              </a:defRPr>
            </a:pPr>
            <a:r>
              <a:t>Simpler, usually USB-based devices that expand ports without the full docking capabilities. More portable and affordable but limited compared to docks.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4320" y="2231136"/>
            <a:ext cx="8595360" cy="59436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2231136"/>
            <a:ext cx="54864" cy="59436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2286000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369A1"/>
                </a:solidFill>
                <a:latin typeface="Arial"/>
              </a:defRPr>
            </a:pPr>
            <a:r>
              <a:t>Key Differences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252374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F172A"/>
                </a:solidFill>
                <a:latin typeface="Arial"/>
              </a:defRPr>
            </a:pPr>
            <a:r>
              <a:t>Docks often support multiple high-resolution displays and faster data. Replicators are lighter, cheaper, and good for basic expansion (USB ports, HDMI, etc.).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74320" y="2889504"/>
            <a:ext cx="8595360" cy="59436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74320" y="2889504"/>
            <a:ext cx="54864" cy="59436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2944368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369A1"/>
                </a:solidFill>
                <a:latin typeface="Arial"/>
              </a:defRPr>
            </a:pPr>
            <a:r>
              <a:t>Connection Methods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318211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F172A"/>
                </a:solidFill>
                <a:latin typeface="Arial"/>
              </a:defRPr>
            </a:pPr>
            <a:r>
              <a:t>Thunderbolt 3/4, USB4, or USB-C with DisplayPort Alt Mode for modern docks. Older docks may use proprietary connectors or USB 3.0.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74320" y="3547872"/>
            <a:ext cx="8595360" cy="59436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74320" y="3547872"/>
            <a:ext cx="54864" cy="59436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3602736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369A1"/>
                </a:solidFill>
                <a:latin typeface="Arial"/>
              </a:defRPr>
            </a:pPr>
            <a:r>
              <a:t>Use Cases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384048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F172A"/>
                </a:solidFill>
                <a:latin typeface="Arial"/>
              </a:defRPr>
            </a:pPr>
            <a:r>
              <a:t>Office/hot-desking setups, home office with multiple monitors, quick connect/disconnect for mobile workers.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74320" y="4206240"/>
            <a:ext cx="8595360" cy="59436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74320" y="4206240"/>
            <a:ext cx="54864" cy="59436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4261103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369A1"/>
                </a:solidFill>
                <a:latin typeface="Arial"/>
              </a:defRPr>
            </a:pPr>
            <a:r>
              <a:t>Troubleshooting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449884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F172A"/>
                </a:solidFill>
                <a:latin typeface="Arial"/>
              </a:defRPr>
            </a:pPr>
            <a:r>
              <a:t>Ensure laptop supports the dock's connection standard. Update dock firmware and laptop BIOS/drivers. Check power requirements. Test individual ports.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Arial"/>
              </a:defRPr>
            </a:pPr>
            <a:r>
              <a:t>TRACKPADS &amp; DRAWING PADS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914400"/>
            <a:ext cx="8595360" cy="59436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914400"/>
            <a:ext cx="54864" cy="59436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969264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369A1"/>
                </a:solidFill>
                <a:latin typeface="Arial"/>
              </a:defRPr>
            </a:pPr>
            <a:r>
              <a:t>Trackpads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0700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F172A"/>
                </a:solidFill>
                <a:latin typeface="Arial"/>
              </a:defRPr>
            </a:pPr>
            <a:r>
              <a:t>Touch-sensitive input devices that replace or supplement a mouse. Support multi-finger gestures (scroll, pinch to zoom, swipe, etc.). Can be built-in or external Bluetooth/USB.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" y="1572768"/>
            <a:ext cx="8595360" cy="59436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1572768"/>
            <a:ext cx="54864" cy="59436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627632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369A1"/>
                </a:solidFill>
                <a:latin typeface="Arial"/>
              </a:defRPr>
            </a:pPr>
            <a:r>
              <a:t>Drawing Pads (Digitizers)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865376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F172A"/>
                </a:solidFill>
                <a:latin typeface="Arial"/>
              </a:defRPr>
            </a:pPr>
            <a:r>
              <a:t>Graphics tablets with a stylus for precise drawing and illustration. Connect via USB or Bluetooth. Often pressure-sensitive with high resolution.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4320" y="2231136"/>
            <a:ext cx="8595360" cy="59436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2231136"/>
            <a:ext cx="54864" cy="59436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2286000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369A1"/>
                </a:solidFill>
                <a:latin typeface="Arial"/>
              </a:defRPr>
            </a:pPr>
            <a:r>
              <a:t>Key Features - Trackpads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252374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F172A"/>
                </a:solidFill>
                <a:latin typeface="Arial"/>
              </a:defRPr>
            </a:pPr>
            <a:r>
              <a:t>Multi-touch gestures, precision tracking, palm rejection on some models, and customizable buttons/gestures.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74320" y="2889504"/>
            <a:ext cx="8595360" cy="59436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74320" y="2889504"/>
            <a:ext cx="54864" cy="59436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2944368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369A1"/>
                </a:solidFill>
                <a:latin typeface="Arial"/>
              </a:defRPr>
            </a:pPr>
            <a:r>
              <a:t>Key Features - Drawing Pads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318211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F172A"/>
                </a:solidFill>
                <a:latin typeface="Arial"/>
              </a:defRPr>
            </a:pPr>
            <a:r>
              <a:t>Pressure levels (up to 8192+), tilt recognition, programmable express keys, and large active area for artists.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74320" y="3547872"/>
            <a:ext cx="8595360" cy="59436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74320" y="3547872"/>
            <a:ext cx="54864" cy="59436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3602736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369A1"/>
                </a:solidFill>
                <a:latin typeface="Arial"/>
              </a:defRPr>
            </a:pPr>
            <a:r>
              <a:t>Use Cases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384048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F172A"/>
                </a:solidFill>
                <a:latin typeface="Arial"/>
              </a:defRPr>
            </a:pPr>
            <a:r>
              <a:t>Trackpads: General navigation and productivity. Drawing pads: Digital art, photo editing, graphic design, animation, and precise illustration work.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74320" y="4206240"/>
            <a:ext cx="8595360" cy="59436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74320" y="4206240"/>
            <a:ext cx="54864" cy="59436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4261103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369A1"/>
                </a:solidFill>
                <a:latin typeface="Arial"/>
              </a:defRPr>
            </a:pPr>
            <a:r>
              <a:t>Troubleshooting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449884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F172A"/>
                </a:solidFill>
                <a:latin typeface="Arial"/>
              </a:defRPr>
            </a:pPr>
            <a:r>
              <a:t>Update drivers (especially for drawing pads). Ensure proper pairing for Bluetooth models. Calibrate if available. Check for interference or low battery.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Arial"/>
              </a:defRPr>
            </a:pPr>
            <a:r>
              <a:t>KEY TAKEAWAYS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987552"/>
            <a:ext cx="182880" cy="18288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91440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F172A"/>
                </a:solidFill>
                <a:latin typeface="Arial"/>
              </a:defRPr>
            </a:pPr>
            <a:r>
              <a:t>Accessories greatly expand what mobile devices and laptops can do for work, creativity, and communication.</a:t>
            </a:r>
          </a:p>
        </p:txBody>
      </p:sp>
      <p:sp>
        <p:nvSpPr>
          <p:cNvPr id="6" name="Oval 5"/>
          <p:cNvSpPr/>
          <p:nvPr/>
        </p:nvSpPr>
        <p:spPr>
          <a:xfrm>
            <a:off x="457200" y="1463040"/>
            <a:ext cx="182880" cy="18288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389888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F172A"/>
                </a:solidFill>
                <a:latin typeface="Arial"/>
              </a:defRPr>
            </a:pPr>
            <a:r>
              <a:t>Styluses add precision for drawing and note-taking; choose active/Bluetooth models for pressure sensitivity.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1938528"/>
            <a:ext cx="182880" cy="18288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865376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F172A"/>
                </a:solidFill>
                <a:latin typeface="Arial"/>
              </a:defRPr>
            </a:pPr>
            <a:r>
              <a:t>Headsets and speakers improve audio experience — match wired vs. wireless to your mobility needs.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2414016"/>
            <a:ext cx="182880" cy="18288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340864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F172A"/>
                </a:solidFill>
                <a:latin typeface="Arial"/>
              </a:defRPr>
            </a:pPr>
            <a:r>
              <a:t>External webcams significantly upgrade video quality for meetings and content creation.</a:t>
            </a:r>
          </a:p>
        </p:txBody>
      </p:sp>
      <p:sp>
        <p:nvSpPr>
          <p:cNvPr id="12" name="Oval 11"/>
          <p:cNvSpPr/>
          <p:nvPr/>
        </p:nvSpPr>
        <p:spPr>
          <a:xfrm>
            <a:off x="457200" y="2889504"/>
            <a:ext cx="182880" cy="18288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2816352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F172A"/>
                </a:solidFill>
                <a:latin typeface="Arial"/>
              </a:defRPr>
            </a:pPr>
            <a:r>
              <a:t>Docking stations offer the most complete single-cable solution; port replicators are lighter and more affordable alternatives.</a:t>
            </a:r>
          </a:p>
        </p:txBody>
      </p:sp>
      <p:sp>
        <p:nvSpPr>
          <p:cNvPr id="14" name="Oval 13"/>
          <p:cNvSpPr/>
          <p:nvPr/>
        </p:nvSpPr>
        <p:spPr>
          <a:xfrm>
            <a:off x="457200" y="3364992"/>
            <a:ext cx="182880" cy="18288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329184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F172A"/>
                </a:solidFill>
                <a:latin typeface="Arial"/>
              </a:defRPr>
            </a:pPr>
            <a:r>
              <a:t>Trackpads enhance navigation with gestures; drawing pads are essential tools for digital artists and designers.</a:t>
            </a:r>
          </a:p>
        </p:txBody>
      </p:sp>
      <p:sp>
        <p:nvSpPr>
          <p:cNvPr id="16" name="Oval 15"/>
          <p:cNvSpPr/>
          <p:nvPr/>
        </p:nvSpPr>
        <p:spPr>
          <a:xfrm>
            <a:off x="457200" y="3840480"/>
            <a:ext cx="182880" cy="18288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3767328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F172A"/>
                </a:solidFill>
                <a:latin typeface="Arial"/>
              </a:defRPr>
            </a:pPr>
            <a:r>
              <a:t>When selecting accessories, consider connection type (Bluetooth vs. wired), compatibility, battery life, and your specific workflow.</a:t>
            </a:r>
          </a:p>
        </p:txBody>
      </p:sp>
      <p:sp>
        <p:nvSpPr>
          <p:cNvPr id="18" name="Oval 17"/>
          <p:cNvSpPr/>
          <p:nvPr/>
        </p:nvSpPr>
        <p:spPr>
          <a:xfrm>
            <a:off x="457200" y="4315968"/>
            <a:ext cx="182880" cy="18288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4242816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F172A"/>
                </a:solidFill>
                <a:latin typeface="Arial"/>
              </a:defRPr>
            </a:pPr>
            <a:r>
              <a:t>For CompTIA A+ exam success: Know the purpose of each accessory, how they connect, and basic troubleshooting steps.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Arial"/>
              </a:defRPr>
            </a:pPr>
            <a:r>
              <a:t>RESOURCES &amp; NEXT STEPS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914400"/>
            <a:ext cx="8595360" cy="658368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914400"/>
            <a:ext cx="54864" cy="658368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369A1"/>
                </a:solidFill>
                <a:latin typeface="Arial"/>
              </a:defRPr>
            </a:pPr>
            <a:r>
              <a:t>Professor Messer CompTIA A+ Video Series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6187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F172A"/>
                </a:solidFill>
                <a:latin typeface="Arial"/>
              </a:defRPr>
            </a:pPr>
            <a:r>
              <a:t>Excellent free resource covering all objectives with clear demonstrations of accessories and their functions.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" y="1664207"/>
            <a:ext cx="8595360" cy="658368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1664207"/>
            <a:ext cx="54864" cy="658368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73736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369A1"/>
                </a:solidFill>
                <a:latin typeface="Arial"/>
              </a:defRPr>
            </a:pPr>
            <a:r>
              <a:t>Official CompTIA A+ Exam Objectives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011679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F172A"/>
                </a:solidFill>
                <a:latin typeface="Arial"/>
              </a:defRPr>
            </a:pPr>
            <a:r>
              <a:t>Review the exact wording around mobile device accessories to ensure you're studying the right topics.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4320" y="2414015"/>
            <a:ext cx="8595360" cy="658368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2414015"/>
            <a:ext cx="54864" cy="658368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2487168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369A1"/>
                </a:solidFill>
                <a:latin typeface="Arial"/>
              </a:defRPr>
            </a:pPr>
            <a:r>
              <a:t>Manufacturer Guides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2761487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F172A"/>
                </a:solidFill>
                <a:latin typeface="Arial"/>
              </a:defRPr>
            </a:pPr>
            <a:r>
              <a:t>Apple, Dell, HP, Logitech, Wacom, etc. provide detailed specs and setup instructions for their accessories.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74320" y="3163824"/>
            <a:ext cx="8595360" cy="658368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74320" y="3163824"/>
            <a:ext cx="54864" cy="658368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3236976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369A1"/>
                </a:solidFill>
                <a:latin typeface="Arial"/>
              </a:defRPr>
            </a:pPr>
            <a:r>
              <a:t>Hands-On Practice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3511296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F172A"/>
                </a:solidFill>
                <a:latin typeface="Arial"/>
              </a:defRPr>
            </a:pPr>
            <a:r>
              <a:t>Experiment with different accessories on real devices. Practice connecting via Bluetooth, USB, and setting up docks.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74320" y="3913631"/>
            <a:ext cx="8595360" cy="658368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74320" y="3913631"/>
            <a:ext cx="54864" cy="658368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3986783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369A1"/>
                </a:solidFill>
                <a:latin typeface="Arial"/>
              </a:defRPr>
            </a:pPr>
            <a:r>
              <a:t>Practice Questions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4261103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F172A"/>
                </a:solidFill>
                <a:latin typeface="Arial"/>
              </a:defRPr>
            </a:pPr>
            <a:r>
              <a:t>Focus on scenarios involving accessory selection, connection troubleshooting, and identifying features of each type.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3444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800" b="1">
                <a:solidFill>
                  <a:srgbClr val="FFFFFF"/>
                </a:solidFill>
                <a:latin typeface="Arial"/>
              </a:defRPr>
            </a:pPr>
            <a: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574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BD5E1"/>
                </a:solidFill>
                <a:latin typeface="Arial"/>
              </a:defRPr>
            </a:pPr>
            <a:r>
              <a:t>Questions or feedback? Drop them in the YouTube comments or community discussions.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0" y="2697480"/>
            <a:ext cx="2743200" cy="1097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9718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Arial"/>
              </a:defRPr>
            </a:pPr>
            <a:r>
              <a:t>This slide deck is part of professional portfolio materials</a:t>
            </a:r>
            <a:br/>
            <a:r>
              <a:t>for IT certification teaching content.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25196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4748B"/>
                </a:solidFill>
                <a:latin typeface="Arial"/>
              </a:defRPr>
            </a:pPr>
            <a:r>
              <a:t>Aaron R. Smith  •  CompTIA A+ • Network+ • Security+  •  WGU B.S. Information Technology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Mobile Device Accessories - CompTIA A+ (220-1201) Core 1 Section 1.2</dc:title>
  <dc:subject/>
  <dc:creator>Aaron R. Smith</dc:creator>
  <cp:keywords>CompTIA A+, Mobile Device Accessories, Stylus, Headsets, Speakers, Webcams, Docking Stations, Port Replicators, Trackpads, Drawing Pads, 220-1201</cp:keywords>
  <dc:description>Professional teaching materials for IT certification training - Mobile Device Accessories (Stylus, Headsets, Speakers, Webcams, Docks, Trackpads, Drawing Pads)</dc:description>
  <cp:lastModifiedBy>Aaron R. Smith</cp:lastModifiedBy>
  <cp:revision>1</cp:revision>
  <dcterms:created xsi:type="dcterms:W3CDTF">2013-01-27T09:14:16Z</dcterms:created>
  <dcterms:modified xsi:type="dcterms:W3CDTF">2013-01-27T09:15:58Z</dcterms:modified>
  <cp:category/>
</cp:coreProperties>
</file>